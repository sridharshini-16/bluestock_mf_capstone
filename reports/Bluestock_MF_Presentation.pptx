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BLUESTOCK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ADCFC"/>
                </a:solidFill>
              </a:rPr>
              <a:t>MUTUAL FUND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 comprehensive data-driven analysis of the Indian MF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EEAD4"/>
                </a:solidFill>
              </a:rPr>
              <a:t>Period: Jan 2022 – Dec 2025  |  40 Schemes  |  10 AMCs  |  32,778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</a:rPr>
              <a:t>Bluestock Fintech Internship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Why does this analysis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>
                <a:solidFill>
                  <a:srgbClr val="1E293B"/>
                </a:solidFill>
              </a:rPr>
              <a:t>1,400+ MF schemes overwhelm retail investors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No unified analytics platform for scheme comparison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Investors lack risk-adjusted performance benchmarks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SIP vs Lumpsum outcomes poorly understood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B30 city investor behaviour largely unstudied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4937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090"/>
                </a:solidFill>
              </a:rPr>
              <a:t>Our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>
                <a:solidFill>
                  <a:srgbClr val="1E293B"/>
                </a:solidFill>
              </a:rPr>
              <a:t>Build reproducible 10-dataset ETL pipeline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EDA: flows, NAVs, investor behaviour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Compute Sharpe, alpha, beta, CAGR for 40 schemes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Benchmark vs NIFTY 50/100/500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Interactive Power BI dashboard (4 pages)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15-20 page report + 12-slide presentation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GitHub versioned delivery (v1.0 tag)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10 interconnected datasets | 85,000+ data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0116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01 Fund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40 schemes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280160"/>
            <a:ext cx="201168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63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NAV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46,000 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280160"/>
            <a:ext cx="20116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03 AUM by 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90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80160"/>
            <a:ext cx="201168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463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04 SIP Inflows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48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280160"/>
            <a:ext cx="20116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463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05 Cat Inflows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144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201168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06 Folio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21 quarters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657600"/>
            <a:ext cx="20116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840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07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40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657600"/>
            <a:ext cx="201168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840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08 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32,778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657600"/>
            <a:ext cx="20116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840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09 Holdings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322 stocks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3657600"/>
            <a:ext cx="201168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840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10 Benchmarks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8,050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ETL → Metrics → Dashboard →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920240" cy="2926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Read 10 raw CSVs
Parse dates
Infer dtypes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192024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De-duplicate
Fill nulls
Validate 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1920240" cy="2926080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SQLite via
SQLAlchemy
10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280160"/>
            <a:ext cx="1920240" cy="2926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0116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CAGR, Sharpe
Alpha, Beta
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280160"/>
            <a:ext cx="1920240" cy="29260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VISUALISE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0116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Power BI
4-page
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Outputs:  data/processed/*.csv   |   data/db/bluestock_mf.db   |   reports/Final_Report.pdf   |   dashboard/*.pbix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090"/>
                </a:solidFill>
              </a:rPr>
              <a:t>Master Runner:  python scripts/run_pipeline.py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EDA Highlights: Industry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AUM &amp; SIP revolution driving mass retail participation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02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400800" cy="3200400"/>
          </a:xfrm>
          <a:prstGeom prst="rect">
            <a:avLst/>
          </a:prstGeom>
        </p:spPr>
      </p:pic>
      <p:pic>
        <p:nvPicPr>
          <p:cNvPr id="8" name="Picture 7" descr="03_sip_in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89120"/>
            <a:ext cx="640080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188720"/>
            <a:ext cx="47548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2344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10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AUM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AD4"/>
                </a:solidFill>
              </a:rPr>
              <a:t>2022-2025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560320"/>
            <a:ext cx="47548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6060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SIP Inflow 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429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AD4"/>
                </a:solidFill>
              </a:rPr>
              <a:t>Jan22–Dec25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3931920"/>
            <a:ext cx="47548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9776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Folio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AD4"/>
                </a:solidFill>
              </a:rPr>
              <a:t>13.3Cr → 26.1Cr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5303520"/>
            <a:ext cx="47548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349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₹31K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925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SIP/Month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172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AD4"/>
                </a:solidFill>
              </a:rPr>
              <a:t>Dec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EDA Highlights: Investor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Demographics, geography &amp; transaction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05_investor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743200"/>
          </a:xfrm>
          <a:prstGeom prst="rect">
            <a:avLst/>
          </a:prstGeom>
        </p:spPr>
      </p:pic>
      <p:pic>
        <p:nvPicPr>
          <p:cNvPr id="8" name="Picture 7" descr="06_geographic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669280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</a:rP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00">
                <a:solidFill>
                  <a:srgbClr val="1E293B"/>
                </a:solidFill>
              </a:rPr>
              <a:t>26-45 age group drives highest transaction value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Female investors: 38% count but 29% of value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T30 cities: 71% of transaction volume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B30 cities show higher avg ticket size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SIP:Lumpsum ratio = 2.4:1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Kolkata, Hyderabad &amp; Gurugram top cities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100% KYC verification rate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UPI dominant for SIP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Returns, risk-reward and scheme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10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79" y="1188720"/>
            <a:ext cx="38404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2344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Avg 1Y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560320"/>
            <a:ext cx="38404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3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186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Best 1Y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931920"/>
            <a:ext cx="38404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97763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590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Avg Sharpe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5303520"/>
            <a:ext cx="38404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3492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961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</a:rPr>
              <a:t>Avg Beta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Performance Metrics: Alpha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Active management performance vs index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08_return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743200"/>
          </a:xfrm>
          <a:prstGeom prst="rect">
            <a:avLst/>
          </a:prstGeom>
        </p:spPr>
      </p:pic>
      <p:pic>
        <p:nvPicPr>
          <p:cNvPr id="8" name="Picture 7" descr="13_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669280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</a:rPr>
              <a:t>Alpha &amp; Benchmark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00">
                <a:solidFill>
                  <a:srgbClr val="1E293B"/>
                </a:solidFill>
              </a:rPr>
              <a:t>Only 35% of schemes generate +ve alpha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Mean alpha: 1.25% (vs benchmark)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NIFTY 500 returned ~71% total (2022-25)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Large Cap schemes hardest to beat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Mid/Small Cap shows widest alpha dispersion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Direct plans: +150-300 bps vs regular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Expense ratio: avg 0.68% direct vs 1.76% regular</a:t>
            </a:r>
          </a:p>
          <a:p>
            <a:pPr algn="l" lvl="1"/>
            <a:r>
              <a:rPr sz="1100">
                <a:solidFill>
                  <a:srgbClr val="1E293B"/>
                </a:solidFill>
              </a:rPr>
              <a:t>3Y return avg: 14.1%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Dashboard: Industry Overview &amp; Fund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Power BI — Page 1 &amp; Page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5303520"/>
          </a:xfrm>
          <a:prstGeom prst="rect">
            <a:avLst/>
          </a:prstGeom>
        </p:spPr>
      </p:pic>
      <p:pic>
        <p:nvPicPr>
          <p:cNvPr id="8" name="Picture 7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Dashboard: Investor Analytics &amp; SIP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Power BI — Page 3 &amp; Page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pic>
        <p:nvPicPr>
          <p:cNvPr id="7" name="Picture 6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5303520"/>
          </a:xfrm>
          <a:prstGeom prst="rect">
            <a:avLst/>
          </a:prstGeom>
        </p:spPr>
      </p:pic>
      <p:pic>
        <p:nvPicPr>
          <p:cNvPr id="8" name="Picture 7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</a:rPr>
              <a:t>Actionable insights for investors, AMCs &amp;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Bluestock MF Capstone  |  June 2026  |  github.com/sridharshini-16/bluestock_mf_capstone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5394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>
                <a:solidFill>
                  <a:srgbClr val="1E293B"/>
                </a:solidFill>
              </a:rPr>
              <a:t>AUM 73% growth — retail-led SIP flywheel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SIP inflows up 169% to Rs. 31,002 Cr/mo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Folios doubled — mass retail participation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35% schemes beat benchmark (3Y basis)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Direct plans: +150-300 bps vs regular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Top 5 AMCs control 67% of industry AUM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Mid/Small Cap: 20%+ returns, higher risk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B30 cities: growing share but lagging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77840" cy="5394960"/>
          </a:xfrm>
          <a:prstGeom prst="rect">
            <a:avLst/>
          </a:prstGeom>
          <a:solidFill>
            <a:srgbClr val="F0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090"/>
                </a:solidFill>
              </a:rP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>
                <a:solidFill>
                  <a:srgbClr val="1E293B"/>
                </a:solidFill>
              </a:rPr>
              <a:t>Investors: Switch to Direct plans (cost saving)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Start SIP early — rupee cost averaging wins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Add 20-30% Mid/Flexi Cap for 5Y+ horizon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AMCs: Expand B30 digital onboarding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Target female investor segment (38% users)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Publish transparent alpha attribution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Platform: Build SIP XIRR calculator</a:t>
            </a:r>
          </a:p>
          <a:p>
            <a:pPr algn="l" lvl="1"/>
            <a:r>
              <a:rPr sz="1200">
                <a:solidFill>
                  <a:srgbClr val="1E293B"/>
                </a:solidFill>
              </a:rPr>
              <a:t>Integrate real-time AMFI NAV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</a:rPr>
              <a:t>Bluestock Mutual Fund Analytics Capstone —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EAD4"/>
                </a:solidFill>
              </a:rPr>
              <a:t>github.com/sridharshini-16/bluestock_mf_capstone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</a:rPr>
              <a:t>40 Schemes  |  10 AMCs  |  32,778 Transactions  |  46,000 NAV Points  |  v1.0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EAD4"/>
                </a:solidFill>
              </a:rPr>
              <a:t>Deliverables: Final_Report.pdf  |  Bluestock_MF_Presentation.pptx  |  bluestock_mf.db  |  Power BI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ADCFC"/>
                </a:solidFill>
              </a:rPr>
              <a:t>Bluestock Fintech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